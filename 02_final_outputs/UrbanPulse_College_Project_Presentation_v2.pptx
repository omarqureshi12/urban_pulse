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d15bd8626d4997" /><Relationship Type="http://schemas.openxmlformats.org/officeDocument/2006/relationships/extended-properties" Target="/docProps/app.xml" Id="Rd72fbdbb8b0b4ef7" /><Relationship Type="http://schemas.openxmlformats.org/officeDocument/2006/relationships/officeDocument" Target="/ppt/presentation.xml" Id="R4193efe908bc4c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99a6fccea74916"/>
  </p:sldMasterIdLst>
  <p:notesMasterIdLst>
    <p:notesMasterId xmlns:r="http://schemas.openxmlformats.org/officeDocument/2006/relationships" r:id="R23b0f32b0c2c4ea1"/>
  </p:notesMasterIdLst>
  <p:sldIdLst>
    <p:sldId xmlns:r="http://schemas.openxmlformats.org/officeDocument/2006/relationships" id="256" r:id="R2c6bebe517c74230"/>
    <p:sldId xmlns:r="http://schemas.openxmlformats.org/officeDocument/2006/relationships" id="257" r:id="R27e8b6fd8c984621"/>
    <p:sldId xmlns:r="http://schemas.openxmlformats.org/officeDocument/2006/relationships" id="258" r:id="R79c0c7aa1f8d461f"/>
    <p:sldId xmlns:r="http://schemas.openxmlformats.org/officeDocument/2006/relationships" id="259" r:id="Rcd8932a34bec40ab"/>
    <p:sldId xmlns:r="http://schemas.openxmlformats.org/officeDocument/2006/relationships" id="260" r:id="Rcd6f4870ba6e4545"/>
    <p:sldId xmlns:r="http://schemas.openxmlformats.org/officeDocument/2006/relationships" id="261" r:id="R3937c6ed83cc4081"/>
    <p:sldId xmlns:r="http://schemas.openxmlformats.org/officeDocument/2006/relationships" id="262" r:id="Rb7e91aea4d1c4fab"/>
    <p:sldId xmlns:r="http://schemas.openxmlformats.org/officeDocument/2006/relationships" id="263" r:id="R83510d1a9954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ce8a45ff94dce" /><Relationship Type="http://schemas.openxmlformats.org/officeDocument/2006/relationships/slideMaster" Target="/ppt/slideMasters/slideMaster1.xml" Id="Ra899a6fccea74916" /><Relationship Type="http://schemas.openxmlformats.org/officeDocument/2006/relationships/notesMaster" Target="/ppt/notesMasters/notesMaster1.xml" Id="R23b0f32b0c2c4ea1" /><Relationship Type="http://schemas.openxmlformats.org/officeDocument/2006/relationships/presProps" Target="/ppt/presProps.xml" Id="Rcd40da90f6d04949" /><Relationship Type="http://schemas.openxmlformats.org/officeDocument/2006/relationships/tableStyles" Target="/ppt/tableStyles.xml" Id="R22e8ab31d41848f1" /><Relationship Type="http://schemas.openxmlformats.org/officeDocument/2006/relationships/slide" Target="/ppt/slides/slide1.xml" Id="R2c6bebe517c74230" /><Relationship Type="http://schemas.openxmlformats.org/officeDocument/2006/relationships/slide" Target="/ppt/slides/slide2.xml" Id="R27e8b6fd8c984621" /><Relationship Type="http://schemas.openxmlformats.org/officeDocument/2006/relationships/slide" Target="/ppt/slides/slide3.xml" Id="R79c0c7aa1f8d461f" /><Relationship Type="http://schemas.openxmlformats.org/officeDocument/2006/relationships/slide" Target="/ppt/slides/slide4.xml" Id="Rcd8932a34bec40ab" /><Relationship Type="http://schemas.openxmlformats.org/officeDocument/2006/relationships/slide" Target="/ppt/slides/slide5.xml" Id="Rcd6f4870ba6e4545" /><Relationship Type="http://schemas.openxmlformats.org/officeDocument/2006/relationships/slide" Target="/ppt/slides/slide6.xml" Id="R3937c6ed83cc4081" /><Relationship Type="http://schemas.openxmlformats.org/officeDocument/2006/relationships/slide" Target="/ppt/slides/slide7.xml" Id="Rb7e91aea4d1c4fab" /><Relationship Type="http://schemas.openxmlformats.org/officeDocument/2006/relationships/slide" Target="/ppt/slides/slide8.xml" Id="R83510d1a9954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893aa6983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66b8e3b3a44239" /><Relationship Type="http://schemas.openxmlformats.org/officeDocument/2006/relationships/notesMaster" Target="/ppt/notesMasters/notesMaster1.xml" Id="Rc80876def34d46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37381fa95491e" /><Relationship Type="http://schemas.openxmlformats.org/officeDocument/2006/relationships/notesMaster" Target="/ppt/notesMasters/notesMaster1.xml" Id="Rc490e17553df4b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9eae2534a4254" /><Relationship Type="http://schemas.openxmlformats.org/officeDocument/2006/relationships/notesMaster" Target="/ppt/notesMasters/notesMaster1.xml" Id="R09160cea741548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47183d1dd4470" /><Relationship Type="http://schemas.openxmlformats.org/officeDocument/2006/relationships/notesMaster" Target="/ppt/notesMasters/notesMaster1.xml" Id="R8bd5b0eb768c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f6394f82ff4ef3" /><Relationship Type="http://schemas.openxmlformats.org/officeDocument/2006/relationships/notesMaster" Target="/ppt/notesMasters/notesMaster1.xml" Id="R471c06e480e047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98891a44024dd3" /><Relationship Type="http://schemas.openxmlformats.org/officeDocument/2006/relationships/notesMaster" Target="/ppt/notesMasters/notesMaster1.xml" Id="Rd861c25cd24346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d249ae3e734854" /><Relationship Type="http://schemas.openxmlformats.org/officeDocument/2006/relationships/notesMaster" Target="/ppt/notesMasters/notesMaster1.xml" Id="R3eae78acfde844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e7a8411e1340c6" /><Relationship Type="http://schemas.openxmlformats.org/officeDocument/2006/relationships/notesMaster" Target="/ppt/notesMasters/notesMaster1.xml" Id="R4be146a5d3eb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02_final_outputs/urbanpulse_analysis_report.pdf; 02_final_outputs/urbanpulse_fitness_decision.md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02_final_outputs/urbanpulse_rdbms.sqlite; 02_final_outputs/urbanpulse_data_layers.md; 02_final_outputs/urbanpulse_step9_fitness_decision.md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02_final_outputs/urbanpulse_schema.sql; 02_final_outputs/urbanpulse_data_layers.md; 03_reproducibility_scripts/build_urbanpulse_rdbms.py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02_final_outputs/urbanpulse_stage4_quality_decisions.md; 02_final_outputs/urbanpulse_temperature_month_neighbor_validation.md; 04_project_documentation/PARKING_MEASUREMENT_DEFINITION.md; 04_project_documentation/POWER_OUTAGE_MEASUREMENT_DEFINITION.md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02_final_outputs/urbanpulse_analysis_pivots_charts.xlsx; 02_final_outputs/urbanpulse_step5_compact_descriptive_analysis.md; 02_final_outputs/urbanpulse_rdbms.sqlite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02_final_outputs/urbanpulse_step6_testing_results.md; 02_final_outputs/urbanpulse_step7_model_results.md; 02_final_outputs/urbanpulse_step8_provenance_check.md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04_project_documentation/PHASE3_APPLICATION_TEST_REPORT.md; 05_dashboard/urbanpulse_app.py; 05_dashboard/urbanpulse_data.py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02_final_outputs/urbanpulse_step9_fitness_decision.md; 04_project_documentation/OPEN_ISSUES.md; 04_project_documentation/PHASE3_APPLICATION_TEST_REPORT.md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596ec2193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fd4eee1a6c4655" /><Relationship Type="http://schemas.openxmlformats.org/officeDocument/2006/relationships/slideLayout" Target="/ppt/slideLayouts/slideLayout1.xml" Id="Re2ce37a0bdde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ce37a0bdde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3166d209d4b36" /><Relationship Type="http://schemas.openxmlformats.org/officeDocument/2006/relationships/notesSlide" Target="/ppt/notesSlides/notesSlide1.xml" Id="Rd82a5c0dd8f04e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779451fee497f" /><Relationship Type="http://schemas.openxmlformats.org/officeDocument/2006/relationships/notesSlide" Target="/ppt/notesSlides/notesSlide2.xml" Id="Rcc39225ccbab40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5d4fbf5224881" /><Relationship Type="http://schemas.openxmlformats.org/officeDocument/2006/relationships/notesSlide" Target="/ppt/notesSlides/notesSlide3.xml" Id="Ra5196de8bff14c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306b5e311498e" /><Relationship Type="http://schemas.openxmlformats.org/officeDocument/2006/relationships/notesSlide" Target="/ppt/notesSlides/notesSlide4.xml" Id="Rc3f3be3f6b6e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0c729f3a74397" /><Relationship Type="http://schemas.openxmlformats.org/officeDocument/2006/relationships/chart" Target="/ppt/slides/charts/chart1.xml" Id="R27cea94390874317" /><Relationship Type="http://schemas.openxmlformats.org/officeDocument/2006/relationships/notesSlide" Target="/ppt/notesSlides/notesSlide5.xml" Id="R10420acf179c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d40b5eb244921" /><Relationship Type="http://schemas.openxmlformats.org/officeDocument/2006/relationships/notesSlide" Target="/ppt/notesSlides/notesSlide6.xml" Id="R67487143fffa48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dbfaeaf9c480a" /><Relationship Type="http://schemas.openxmlformats.org/officeDocument/2006/relationships/notesSlide" Target="/ppt/notesSlides/notesSlide7.xml" Id="Rb8114090d9164c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b6c41a91a49d9" /><Relationship Type="http://schemas.openxmlformats.org/officeDocument/2006/relationships/notesSlide" Target="/ppt/notesSlides/notesSlide8.xml" Id="Rcfd3e723c0a94ea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Canonical observations by city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Observations</c:v>
          </c:tx>
          <c:spPr>
            <a:solidFill xmlns:a="http://schemas.openxmlformats.org/drawingml/2006/main">
              <a:srgbClr val="2A6F97"/>
            </a:solidFill>
          </c:spPr>
          <c:cat>
            <c:strRef>
              <c:f>'Chart Data'!$A$2:$A$8</c:f>
              <c:strCache>
                <c:ptCount val="7"/>
                <c:pt idx="0">
                  <c:v>Bengaluru</c:v>
                </c:pt>
                <c:pt idx="1">
                  <c:v>Bhopal</c:v>
                </c:pt>
                <c:pt idx="2">
                  <c:v>Delhi</c:v>
                </c:pt>
                <c:pt idx="3">
                  <c:v>Indore</c:v>
                </c:pt>
                <c:pt idx="4">
                  <c:v>Jaipur</c:v>
                </c:pt>
                <c:pt idx="5">
                  <c:v>Nagpur</c:v>
                </c:pt>
                <c:pt idx="6">
                  <c:v>Pune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223</c:v>
                </c:pt>
                <c:pt idx="1">
                  <c:v>204</c:v>
                </c:pt>
                <c:pt idx="2">
                  <c:v>231</c:v>
                </c:pt>
                <c:pt idx="3">
                  <c:v>240</c:v>
                </c:pt>
                <c:pt idx="4">
                  <c:v>231</c:v>
                </c:pt>
                <c:pt idx="5">
                  <c:v>229</c:v>
                </c:pt>
                <c:pt idx="6">
                  <c:v>242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324D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Rows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45A67-EBB9-4703-9CF4-ADAD20CB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06EE2-A09B-4721-8B94-76405C54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47750"/>
            <a:ext cx="2952750" cy="2952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8E877-C0EF-419A-96D8-0E1BB59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668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B3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7DD19-A08A-4F89-9151-77DDBFD3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rPr>
              <a:t>URBANPULSE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F967B-1EB6-4FFB-97BE-29B021CF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Smart-city analytics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raw data to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validated 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82F3F-A800-4758-BB5A-1DDF92B7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rPr>
              <a:t>A college project workflow for an intentionally sampled urban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AB2B6-C304-4CD4-BA77-D8DA62DA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DB8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9DB8C9"/>
                </a:solidFill>
                <a:latin typeface="Helvetica Neue"/>
                <a:ea typeface="Helvetica Neue"/>
                <a:cs typeface="Helvetica Neue"/>
              </a:rPr>
              <a:t>2026-01-01 to 2026-09-24  ·  descriptive reporting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A13D0-42A7-4181-AA04-19554EF5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DB8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9DB8C9"/>
                </a:solidFill>
                <a:latin typeface="Helvetica Neue"/>
                <a:ea typeface="Helvetica Neue"/>
                <a:cs typeface="Helvetica Neue"/>
              </a:rPr>
              <a:t>College 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F978A-A3BE-44C0-9A62-3EEF3561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presentation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9AFC8-BB56-4823-AFAE-73F5A0D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58641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86D93-C103-4315-A351-F7764019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project starts with a bounded, intentional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CF972-121C-42DB-9B88-2D725AF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numbers are sufficient for a reproducible college project, but not for official city rankings.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B2426-585A-4A53-B48C-C0AF1C0A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 / 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means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 source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Immutable workbook rows retained for audit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Deduplicated analysis grain with raw and cleaned values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eligible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values only; no imputation in the primary analysis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cities · 6 zones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2026-01-01 to 2026-09-24; intentionally sampled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316D0-7BC3-4534-96EC-E28DC97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E3E03-E2B8-4DBF-859E-F10D5C9F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B9F1-A72B-4D92-8901-6EA4230D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This is a traceable analytical sample—not a complete city-zone-time panel.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E7649-A366-4B09-A33B-E817307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BA05C-C5D4-4C6C-9DF3-0EB7E5F5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9560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EF9C0-16C8-407D-945B-B74B63D4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workflow separates evidence from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3F85E-D62A-4681-99F6-B6CF4EC2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Every transformation can be traced without overwriting the supplied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9CA31-2494-406B-9F3D-7D05BFF9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5CEE7-88F2-4AFE-AE42-82821CF3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workbook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Immutable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raw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A83D4-AE69-4A03-B947-5EB2B162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7FD8B-5EDA-4317-B996-68A3E55B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Raw audit layer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Original +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row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A1659-F531-421D-B047-54B9E66C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C80F1-ABE5-446D-B11B-9ADF5A49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Canonical layer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Cleaned values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side by 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414B8-6846-4415-B976-798BC33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668FB-096E-4F96-A509-FDD45D7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Analysis layers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Observed primary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+ sensitivity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6F090-05EA-455D-9AC6-CDC78E25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A7A08-6082-4916-818A-676C7879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RDBMS · report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dashboard ·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22667-EBFF-49A4-B84A-E6671A7A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Quality flags: missing · imputed · corrected · outlier ·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39B99-309C-42AC-83C5-9929553D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Separate change log  →  quality decisions  →  reproducible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760A7-2BAF-482E-9700-8D6A466B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60B01-2AEE-4EC1-AE36-09F3DA3D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91150"/>
            <a:ext cx="792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 statistical analysis uses observed values only; imputation is sensitivity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D3299-4199-42AC-8CA6-8544B1DB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2996B-21D0-4A80-8336-936499AB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37944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B2D94-3F7F-4126-8580-651983B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Quality decisions are conservative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9842C-AA65-4E13-8721-F07CAE81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raw value is preserved even when a cleaned value or exclusion is used downstream.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CB624-E9D5-4F1D-9059-F657D93C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 /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Treatment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Primary-analysis rule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the field as 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only that field from the relevant estimate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imputed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 a separate sensitivity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Never use as default evidence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raw value, cleaned value, reason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only when the error is supported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outlier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valid extremes and flag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silently trim the sample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and analyze separately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from claims that require certainty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7718B-223F-4930-AD22-8A63B46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FE836-C228-4999-8DEA-4B5F07D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5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55F00"/>
                </a:solidFill>
                <a:latin typeface="Helvetica Neue"/>
                <a:ea typeface="Helvetica Neue"/>
                <a:cs typeface="Helvetica Neue"/>
              </a:rPr>
              <a:t>Temperature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27F30-B2B6-46CF-8B85-6C6F9657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53025"/>
            <a:ext cx="845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Plausible month + consistent neighbors → retain. Inconsistent neighbors → flag. Implausible month + inconsistent neighbors → probable error, with raw value and change log preserved.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A275D-C0D2-4FF0-9533-7475F1C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7FB68-1A9E-4655-84F2-D6C8A443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4929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58FE-5F6B-460E-9346-FBB8FACF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Descriptively, the sample is broadly balanced across cities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E0D84-8143-4684-BB90-4FDD0D5F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Counts are useful for describing the supplied sample—not for asserting population representation.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CEE12-EAAA-42C2-93C6-A42979F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cea94390874317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981950" y="1924050"/>
          <a:ext xmlns:a="http://schemas.openxmlformats.org/drawingml/2006/main" cx="352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762125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city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Pune · 242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Smallest city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Bhopal · 204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zone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Central · 449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Unknown-zone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date span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Jan–Sep 2026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38CDB-73DE-4E00-BBF7-9502687D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83636-4333-499E-90E0-F6CCE5AF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2922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Small differences should not be over-interpreted as city rankings.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03AC3-18AC-439D-9240-0F2CD1A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BCA91-6425-4FB9-9346-F6BD583C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7020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1DA77-62B5-4878-98A1-8D5C5F34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strongest conclusion is disciplined non-detection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766DF-8F72-4647-BE11-7C4AB16D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At the predefined 99% threshold, the project found no robust evidence for the registered hypotheses.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77B04-B096-4A0D-9381-26BDC96F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Traffic ↔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Incidents ↔ waterlogging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Temperature ↔ outages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 predictability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forecast R² = −1.508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not outperform the simple baseline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Provenance simulation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of 81 diagnostics flagged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authenticity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70D94-4144-4AD7-9E46-052ED365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54CFE-11AB-4B80-BAC4-9DF6D4DC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1036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63D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3D40"/>
                </a:solidFill>
                <a:latin typeface="Helvetica Neue"/>
                <a:ea typeface="Helvetica Neue"/>
                <a:cs typeface="Helvetica Neue"/>
              </a:rPr>
              <a:t>Decision implication: report effect sizes and uncertainty, but do not claim causality or production-grade forecasting.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BE1CB-1A20-43C1-A422-31BE02D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A379B-A728-411D-B20A-102EEA5F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3605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6077B-F884-4132-9185-787982CC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dashboard is now browser-tested and hardened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2D9F7-76D0-4B6E-9FFF-C167CC0F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application reads the database in read-only mode and keeps observed and imputed views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F1879-E8FB-450D-AE7A-FFAA48CD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check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result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Six-page navigation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pages loaded without exception or traceback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City filter: Pune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242 rows; chart updated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Zone filter: 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filter: 00:00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267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 filter: 2026-01-01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eligible 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1,491 rows; no imputed records added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Empty-state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Message shown; stale charts removed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5A566-D27D-4219-870C-41120B3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C2D8D-FE6C-411C-89AA-99CD19A7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Hardening re-test: no fresh browser console warnings/errors and no deprecated width API warnings.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9DA0F-8949-4672-957E-0AEDCA03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CA392-0E6F-40D7-B465-1553270D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3426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D19D5-793E-4E62-9C60-0EE5B53A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59E2A-1F69-4B26-98C3-06F0BF8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rPr>
              <a:t>Fit only for descriptive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5FCCC-C3C6-4B47-BE14-9FDA187F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rPr>
              <a:t>A strong college project when framed around reproducibility, data quality, and honest uncertainty.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2571750"/>
          <a:ext xmlns:a="http://schemas.openxmlformats.org/drawingml/2006/main" cx="1074420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72100"/>
                <a:gridCol w="5372100"/>
              </a:tblGrid>
              <a:tr h="3619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it for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use it for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dashboards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control or safety decisions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Data-engineering demonstration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Causal claims or KPI commitments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Training, QA, and pipeline testing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forecasting or official rankings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91C49-5A12-4596-8260-BD32D74C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step: obtain authoritative field definitions and source metadata before upgrading the dataset’s fitness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2A111-5205-47CC-95B0-867AE46B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final project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95C2E-ADA1-4B80-80BD-B10B43C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5103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2026-10-03T19:41:00.5140000Z</dcterms:created>
  <dcterms:modified xsi:type="dcterms:W3CDTF">2026-10-03T19:41:00.5140000Z</dcterms:modified>
</coreProperties>
</file>