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30bc4f64484d5f" /><Relationship Type="http://schemas.openxmlformats.org/officeDocument/2006/relationships/extended-properties" Target="/docProps/app.xml" Id="R3cfc8119b84a43be" /><Relationship Type="http://schemas.openxmlformats.org/officeDocument/2006/relationships/officeDocument" Target="/ppt/presentation.xml" Id="R24ffcf4bd9dd4b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d874eab5cd4233"/>
  </p:sldMasterIdLst>
  <p:notesMasterIdLst>
    <p:notesMasterId xmlns:r="http://schemas.openxmlformats.org/officeDocument/2006/relationships" r:id="R70f77907f89c4a50"/>
  </p:notesMasterIdLst>
  <p:sldIdLst>
    <p:sldId xmlns:r="http://schemas.openxmlformats.org/officeDocument/2006/relationships" id="256" r:id="R7bf73ca1ae964f3b"/>
    <p:sldId xmlns:r="http://schemas.openxmlformats.org/officeDocument/2006/relationships" id="257" r:id="R7df30789c4aa47df"/>
    <p:sldId xmlns:r="http://schemas.openxmlformats.org/officeDocument/2006/relationships" id="258" r:id="R7127a6fa56e444a9"/>
    <p:sldId xmlns:r="http://schemas.openxmlformats.org/officeDocument/2006/relationships" id="259" r:id="Rc9b8adf1eea248e4"/>
    <p:sldId xmlns:r="http://schemas.openxmlformats.org/officeDocument/2006/relationships" id="260" r:id="Rec6b232beeec47a8"/>
    <p:sldId xmlns:r="http://schemas.openxmlformats.org/officeDocument/2006/relationships" id="261" r:id="Re2f607dfce6e4aad"/>
    <p:sldId xmlns:r="http://schemas.openxmlformats.org/officeDocument/2006/relationships" id="262" r:id="R5547f4cddc3a4d39"/>
    <p:sldId xmlns:r="http://schemas.openxmlformats.org/officeDocument/2006/relationships" id="263" r:id="R0b3f5a6bd4f44e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41f894a44049f7" /><Relationship Type="http://schemas.openxmlformats.org/officeDocument/2006/relationships/slideMaster" Target="/ppt/slideMasters/slideMaster1.xml" Id="Rdcd874eab5cd4233" /><Relationship Type="http://schemas.openxmlformats.org/officeDocument/2006/relationships/notesMaster" Target="/ppt/notesMasters/notesMaster1.xml" Id="R70f77907f89c4a50" /><Relationship Type="http://schemas.openxmlformats.org/officeDocument/2006/relationships/presProps" Target="/ppt/presProps.xml" Id="R2324f446cbfd4ec7" /><Relationship Type="http://schemas.openxmlformats.org/officeDocument/2006/relationships/tableStyles" Target="/ppt/tableStyles.xml" Id="R85f969a1365347f2" /><Relationship Type="http://schemas.openxmlformats.org/officeDocument/2006/relationships/slide" Target="/ppt/slides/slide1.xml" Id="R7bf73ca1ae964f3b" /><Relationship Type="http://schemas.openxmlformats.org/officeDocument/2006/relationships/slide" Target="/ppt/slides/slide2.xml" Id="R7df30789c4aa47df" /><Relationship Type="http://schemas.openxmlformats.org/officeDocument/2006/relationships/slide" Target="/ppt/slides/slide3.xml" Id="R7127a6fa56e444a9" /><Relationship Type="http://schemas.openxmlformats.org/officeDocument/2006/relationships/slide" Target="/ppt/slides/slide4.xml" Id="Rc9b8adf1eea248e4" /><Relationship Type="http://schemas.openxmlformats.org/officeDocument/2006/relationships/slide" Target="/ppt/slides/slide5.xml" Id="Rec6b232beeec47a8" /><Relationship Type="http://schemas.openxmlformats.org/officeDocument/2006/relationships/slide" Target="/ppt/slides/slide6.xml" Id="Re2f607dfce6e4aad" /><Relationship Type="http://schemas.openxmlformats.org/officeDocument/2006/relationships/slide" Target="/ppt/slides/slide7.xml" Id="R5547f4cddc3a4d39" /><Relationship Type="http://schemas.openxmlformats.org/officeDocument/2006/relationships/slide" Target="/ppt/slides/slide8.xml" Id="R0b3f5a6bd4f44e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e14aa1e02240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e11c8d1b8342e7" /><Relationship Type="http://schemas.openxmlformats.org/officeDocument/2006/relationships/notesMaster" Target="/ppt/notesMasters/notesMaster1.xml" Id="R26eada581cba4e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f045ed84a1417c" /><Relationship Type="http://schemas.openxmlformats.org/officeDocument/2006/relationships/notesMaster" Target="/ppt/notesMasters/notesMaster1.xml" Id="R8b2129d9a3d844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8cbda8097a437e" /><Relationship Type="http://schemas.openxmlformats.org/officeDocument/2006/relationships/notesMaster" Target="/ppt/notesMasters/notesMaster1.xml" Id="Rdaf27714dfb544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91d517d723459b" /><Relationship Type="http://schemas.openxmlformats.org/officeDocument/2006/relationships/notesMaster" Target="/ppt/notesMasters/notesMaster1.xml" Id="R22973bf91a3947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549650c6114f66" /><Relationship Type="http://schemas.openxmlformats.org/officeDocument/2006/relationships/notesMaster" Target="/ppt/notesMasters/notesMaster1.xml" Id="R41878c61e3a243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0450887d9f41f4" /><Relationship Type="http://schemas.openxmlformats.org/officeDocument/2006/relationships/notesMaster" Target="/ppt/notesMasters/notesMaster1.xml" Id="Re4b3e9f30c614a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26cf742aa7481a" /><Relationship Type="http://schemas.openxmlformats.org/officeDocument/2006/relationships/notesMaster" Target="/ppt/notesMasters/notesMaster1.xml" Id="R7cf84fe2e9f446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e5a12de1944e98" /><Relationship Type="http://schemas.openxmlformats.org/officeDocument/2006/relationships/notesMaster" Target="/ppt/notesMasters/notesMaster1.xml" Id="Rea5ab665e29744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README.md; 02_final_outputs/urbanpulse_analysis_report.pdf; 02_final_outputs/urbanpulse_fitness_decision.md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02_final_outputs/urbanpulse_rdbms.sqlite; 02_final_outputs/urbanpulse_data_layers.md; 02_final_outputs/urbanpulse_step9_fitness_decision.md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02_final_outputs/urbanpulse_schema.sql; 02_final_outputs/urbanpulse_data_layers.md; 03_reproducibility_scripts/build_urbanpulse_rdbms.py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02_final_outputs/urbanpulse_stage4_quality_decisions.md; 02_final_outputs/urbanpulse_temperature_month_neighbor_validation.md; 04_project_documentation/PARKING_MEASUREMENT_DEFINITION.md; 04_project_documentation/POWER_OUTAGE_MEASUREMENT_DEFINITION.md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02_final_outputs/urbanpulse_analysis_pivots_charts.xlsx; 02_final_outputs/urbanpulse_step5_compact_descriptive_analysis.md; 02_final_outputs/urbanpulse_rdbms.sqlite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02_final_outputs/urbanpulse_step6_testing_results.md; 02_final_outputs/urbanpulse_step7_model_results.md; 02_final_outputs/urbanpulse_step8_provenance_check.md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04_project_documentation/PHASE3_APPLICATION_TEST_REPORT.md; 05_dashboard/urbanpulse_app.py; 05_dashboard/urbanpulse_data.py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02_final_outputs/urbanpulse_step9_fitness_decision.md; 04_project_documentation/OPEN_ISSUES.md; 04_project_documentation/PHASE3_APPLICATION_TEST_REPORT.md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0942842744c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ebb7a6d0db488e" /><Relationship Type="http://schemas.openxmlformats.org/officeDocument/2006/relationships/slideLayout" Target="/ppt/slideLayouts/slideLayout1.xml" Id="Rc51f0bc52b7043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1f0bc52b7043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c0ba8de0a4394" /><Relationship Type="http://schemas.openxmlformats.org/officeDocument/2006/relationships/notesSlide" Target="/ppt/notesSlides/notesSlide1.xml" Id="Rc1df1dc380f147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4425f79c442a2" /><Relationship Type="http://schemas.openxmlformats.org/officeDocument/2006/relationships/notesSlide" Target="/ppt/notesSlides/notesSlide2.xml" Id="R408acfaf6d9443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24facb81f47a9" /><Relationship Type="http://schemas.openxmlformats.org/officeDocument/2006/relationships/notesSlide" Target="/ppt/notesSlides/notesSlide3.xml" Id="R724364ebaceb46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648843a8d446b" /><Relationship Type="http://schemas.openxmlformats.org/officeDocument/2006/relationships/notesSlide" Target="/ppt/notesSlides/notesSlide4.xml" Id="Re7bb13c015ec4d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97310bcec44c9" /><Relationship Type="http://schemas.openxmlformats.org/officeDocument/2006/relationships/chart" Target="/ppt/slides/charts/chart1.xml" Id="R7d49efb0283046f8" /><Relationship Type="http://schemas.openxmlformats.org/officeDocument/2006/relationships/notesSlide" Target="/ppt/notesSlides/notesSlide5.xml" Id="R2ccc889635254a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36379feac4b88" /><Relationship Type="http://schemas.openxmlformats.org/officeDocument/2006/relationships/notesSlide" Target="/ppt/notesSlides/notesSlide6.xml" Id="R7f8dede8206c4c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afd993dec46b5" /><Relationship Type="http://schemas.openxmlformats.org/officeDocument/2006/relationships/notesSlide" Target="/ppt/notesSlides/notesSlide7.xml" Id="R0cda44fb7f3d4b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be3141eee46ce" /><Relationship Type="http://schemas.openxmlformats.org/officeDocument/2006/relationships/notesSlide" Target="/ppt/notesSlides/notesSlide8.xml" Id="R62edabe3db214e0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Helvetica Neue"/>
                <a:ea typeface="Helvetica Neue"/>
                <a:cs typeface="Helvetica Neue"/>
              </a:rPr>
              <a:t>Canonical observations by city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Observations</c:v>
          </c:tx>
          <c:spPr>
            <a:solidFill xmlns:a="http://schemas.openxmlformats.org/drawingml/2006/main">
              <a:srgbClr val="2A6F97"/>
            </a:solidFill>
          </c:spPr>
          <c:cat>
            <c:strRef>
              <c:f>'Chart Data'!$A$2:$A$8</c:f>
              <c:strCache>
                <c:ptCount val="7"/>
                <c:pt idx="0">
                  <c:v>Bengaluru</c:v>
                </c:pt>
                <c:pt idx="1">
                  <c:v>Bhopal</c:v>
                </c:pt>
                <c:pt idx="2">
                  <c:v>Delhi</c:v>
                </c:pt>
                <c:pt idx="3">
                  <c:v>Indore</c:v>
                </c:pt>
                <c:pt idx="4">
                  <c:v>Jaipur</c:v>
                </c:pt>
                <c:pt idx="5">
                  <c:v>Nagpur</c:v>
                </c:pt>
                <c:pt idx="6">
                  <c:v>Pune</c:v>
                </c:pt>
              </c:strCache>
            </c:strRef>
          </c:cat>
          <c:val>
            <c:numRef>
              <c:f>'Chart Data'!$B$2:$B$8</c:f>
              <c:numCache>
                <c:formatCode>#,##0</c:formatCode>
                <c:ptCount val="7"/>
                <c:pt idx="0">
                  <c:v>223</c:v>
                </c:pt>
                <c:pt idx="1">
                  <c:v>204</c:v>
                </c:pt>
                <c:pt idx="2">
                  <c:v>231</c:v>
                </c:pt>
                <c:pt idx="3">
                  <c:v>240</c:v>
                </c:pt>
                <c:pt idx="4">
                  <c:v>231</c:v>
                </c:pt>
                <c:pt idx="5">
                  <c:v>229</c:v>
                </c:pt>
                <c:pt idx="6">
                  <c:v>242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17324D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6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Rows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B29FC-7A57-46F6-91DA-81B98EB7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80FE5-88BE-430B-AD66-2B1BC9AE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47750"/>
            <a:ext cx="2952750" cy="2952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9681C-0377-4B55-AF6D-B0AEA4F7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66875"/>
            <a:ext cx="1714500" cy="171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FB3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54067-67EA-4C7F-90E2-AEBAAFEF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rPr>
              <a:t>URBANPULSE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9F5FF-B9B7-4DD9-B637-B9F3EDE5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Smart-city analytics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from raw data to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validated insight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CC8726-E876-4149-8CF6-482A39F4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rPr>
              <a:t>A college project workflow for an intentionally sampled urban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6CDAD-497F-4FB6-8FC9-0918A850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9DB8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9DB8C9"/>
                </a:solidFill>
                <a:latin typeface="Helvetica Neue"/>
                <a:ea typeface="Helvetica Neue"/>
                <a:cs typeface="Helvetica Neue"/>
              </a:rPr>
              <a:t>2026-01-01 to 2026-09-24  ·  descriptive reporting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F2D73-B94D-4CC0-ADC1-CE94E1FC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9DB8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>
                <a:solidFill>
                  <a:srgbClr val="9DB8C9"/>
                </a:solidFill>
                <a:latin typeface="Helvetica Neue"/>
                <a:ea typeface="Helvetica Neue"/>
                <a:cs typeface="Helvetica Neue"/>
              </a:rPr>
              <a:t>College project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94D43-E584-4277-8DD6-81D5D574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presentation package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CD107-DEA4-4DDE-9C98-DAEFB510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38332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C97CC-15B2-42AA-9877-7626B229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project starts with a bounded, intentional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E6C8B-5911-467D-9936-687BA727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The numbers are sufficient for a reproducible college project, but not for official city rankings.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27FA5-4DE4-4CBC-890D-A74BBDEE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3619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Layer / measure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means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Raw source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1,635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Immutable workbook rows retained for audit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Canonical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1,600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Deduplicated analysis grain with raw and cleaned values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eligible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1,491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values only; no imputation in the primary analysis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Coverage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cities · 6 zones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2026-01-01 to 2026-09-24; intentionally sampled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B51F0-073A-423C-A9F4-5B03E618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085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9F0ED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23714-ED48-4375-B1E4-5EC832F0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297EB-EE41-44D6-AF6D-49EB2D60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This is a traceable analytical sample—not a complete city-zone-time panel.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1E40F-9552-4A81-8E2F-04C34CA3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B1F16-3253-42C6-B06D-D4715418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8018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9FE0C-0E78-4C7E-AA07-39370347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workflow separates evidence from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D4DF4-BF18-49EF-B036-AB1F54AA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Every transformation can be traced without overwriting the supplied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2893C-749A-4B87-8519-0036E1C7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DA46F-C3EE-44FF-8B29-CAE70125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Source workbook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Immutable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raw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107A0-23D1-4D6D-A638-BD9325F0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8F587-92A1-4428-BC62-A2758C1B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Raw audit layer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Original +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row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4C506-2F4D-41AE-B6B3-8FB98FC3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076B2-8D2C-4E22-AE7F-3A47B283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9F0ED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Canonical layer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Cleaned values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side by side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13A1F-EBDD-41AF-A3DF-6B13CFF5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EFC81-90F0-49A9-8CA5-D6AC209B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Analysis layers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Observed primary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+ sensitivity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7BBD8-3B82-421D-BFEB-D2232F86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24150"/>
            <a:ext cx="1524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0423B-8084-4318-A436-B2E696E5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86000"/>
            <a:ext cx="1952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E7F6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Outputs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RDBMS · report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dashboard ·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F0D0D-B44E-4C30-B1EB-111A12D6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Quality flags: missing · imputed · corrected · outlier ·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C51FBD-F16A-418E-A327-32F2300C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Separate change log  →  quality decisions  →  reproducible summaries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0B625-8DDC-4489-90DE-8C2C869E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29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A1FE9-AEB6-4DFA-90B8-3C1C5153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91150"/>
            <a:ext cx="792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Primary statistical analysis uses observed values only; imputation is sensitivity analysis.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6185D-44BE-4B21-B1EC-F7947D6A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7D703-F0C2-4739-A2B8-10C98F0A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1725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B213C-B6B0-4F34-B629-B574F544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Quality decisions are conservative by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500C4-3A4C-47B0-9406-77B163EF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The raw value is preserved even when a cleaned value or exclusion is used downstream.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C4E29-D3D7-4376-8142-71A06AB3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067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 / decision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Treatment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Primary-analysis rule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the field as missing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Exclude only that field from the relevant estimate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imputed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 a separate sensitivity value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Never use as default evidence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raw value, cleaned value, reason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only when the error is supported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outlier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 valid extremes and flag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 not silently trim the sample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unknown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 and analyze separately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Exclude from claims that require certainty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5530A-F986-4F34-BECD-3D22B39B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858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5D6"/>
          </a:solidFill>
          <a:ln xmlns:a="http://schemas.openxmlformats.org/drawingml/2006/main" w="9525">
            <a:solidFill>
              <a:srgbClr val="F4B9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958EA-B696-4CAD-9A5C-51E0A32B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55F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855F00"/>
                </a:solidFill>
                <a:latin typeface="Helvetica Neue"/>
                <a:ea typeface="Helvetica Neue"/>
                <a:cs typeface="Helvetica Neue"/>
              </a:rPr>
              <a:t>Temperature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7C66F-B999-45BA-89CD-818C905E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53025"/>
            <a:ext cx="8458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Plausible month + consistent neighbors → retain. Inconsistent neighbors → flag. Implausible month + inconsistent neighbors → probable error, with raw value and change log preserved.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96B98D-8FA8-48DF-8396-62E71228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F65E8-3EDB-492B-95E5-E67D84AD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518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1583D-A25E-4964-8D54-BAB7C020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Descriptively, the sample is broadly balanced across cities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24340-2467-418B-86B0-930A1C08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Counts are useful for describing the supplied sample—not for asserting population representation.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771A8-D703-4FA3-81E8-5D833B9E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685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49efb0283046f8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7981950" y="1924050"/>
          <a:ext xmlns:a="http://schemas.openxmlformats.org/drawingml/2006/main" cx="35242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1762125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Descriptive signal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Largest city sample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Pune · 242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Smallest city sample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Bhopal · 204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Largest zone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Central · 449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Unknown-zone rows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date span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Jan–Sep 2026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4C165-620E-4046-81A3-311AA001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67300"/>
            <a:ext cx="3524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C2901-D9AC-4304-87C9-D9BFDF1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29225"/>
            <a:ext cx="316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Small differences should not be over-interpreted as city rankings.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E3220-4873-450C-9DD3-60E0EC10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9099D-88DC-48A6-A93D-9CD3D9FD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436783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A8B59-2AF5-4957-BD00-832F5248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strongest conclusion is disciplined non-detection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A2B12-E57D-4699-919E-FFFE2912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At the predefined 99% threshold, the project found no robust evidence for the registered hypotheses.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DE555-234D-42D9-8D7F-632482B1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57350"/>
          <a:ext xmlns:a="http://schemas.openxmlformats.org/drawingml/2006/main" cx="108585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Traffic ↔ speed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Adjusted interval includes null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reliable association detected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Incidents ↔ waterlogging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Adjusted interval includes null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reliable association detected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Temperature ↔ outages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Adjusted interval includes null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reliable association detected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Temporal predictability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forecast R² = −1.508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Did not outperform the simple baseline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Provenance simulation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 of 81 diagnostics flagged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proof of authenticity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DFF77-2D8A-4DC6-A2A4-7FB78209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10858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CE7E7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A12C7-805A-455F-A523-610586C2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10363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A63D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3D40"/>
                </a:solidFill>
                <a:latin typeface="Helvetica Neue"/>
                <a:ea typeface="Helvetica Neue"/>
                <a:cs typeface="Helvetica Neue"/>
              </a:rPr>
              <a:t>Decision implication: report effect sizes and uncertainty, but do not claim causality or production-grade forecasting.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47314-7D56-47B7-9D7F-F6D19679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D5B09-7C37-40E6-91D1-054038E7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831301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E5362-3C1B-472C-89C2-0CAF52CF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The dashboard is now browser-tested and hardened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9DD86-D30D-4B55-9323-1A7753A7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382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The application reads the database in read-only mode and keeps observed and imputed views separate.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5426A-43D2-4E58-9DC7-35420FFC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619250"/>
          <a:ext xmlns:a="http://schemas.openxmlformats.org/drawingml/2006/main" cx="108585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5429250"/>
              </a:tblGrid>
              <a:tr h="3619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Acceptance check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Visible result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Six-page navigation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pages loaded without exception or traceback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City filter: Pune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242 rows; chart updated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Zone filter: Unknown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 rows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filter: 00:00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267 rows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Date filter: 2026-01-01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 rows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eligible 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1,491 rows; no imputed records added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Empty-state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Message shown; stale charts removed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DB9FBE-BCDC-4359-9556-C807C8CF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858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9F0ED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16819-3825-43BF-A4A0-1220C6EF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Hardening re-test: no fresh browser console warnings/errors and no deprecated width API warnings.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EDEC7-5301-4BFB-901B-52C5174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College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A4FA1-AE21-4964-98E2-030FF0D6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524549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9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51427-4FC9-4ACC-ACD6-AF37C37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Final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D6329-9AD7-4151-8CF6-281710ED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7ED7CB"/>
                </a:solidFill>
                <a:latin typeface="Helvetica Neue"/>
                <a:ea typeface="Helvetica Neue"/>
                <a:cs typeface="Helvetica Neue"/>
              </a:rPr>
              <a:t>Fit only for descriptive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201C0-A3E6-4FB1-A6FF-01D3D2D6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4E4EF"/>
                </a:solidFill>
                <a:latin typeface="Helvetica Neue"/>
                <a:ea typeface="Helvetica Neue"/>
                <a:cs typeface="Helvetica Neue"/>
              </a:rPr>
              <a:t>A strong college project when framed around reproducibility, data quality, and honest uncertainty.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23900" y="2571750"/>
          <a:ext xmlns:a="http://schemas.openxmlformats.org/drawingml/2006/main" cx="10744200" cy="201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72100"/>
                <a:gridCol w="5372100"/>
              </a:tblGrid>
              <a:tr h="3619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it for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 not use it for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Descriptive dashboards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Operational control or safety decisions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Data-engineering demonstration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Causal claims or KPI commitments</a:t>
                      </a:r>
                    </a:p>
                  </a:txBody>
                  <a:tcPr marL="91440" marR="91440" marT="45720" marB="45720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Training, QA, and pipeline testing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D4E4E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Production forecasting or official rankings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270FB-00A8-4961-907D-8098C2A7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step: obtain authoritative field definitions and source metadata before upgrading the dataset’s fitness classification.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D7A3C-15EE-4B4D-82A6-10D58ECC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UrbanPulse · final project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6A707-A82E-499B-A98E-E605CFD4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579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1803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2026-10-03T19:42:02.0430000Z</dcterms:created>
  <dcterms:modified xsi:type="dcterms:W3CDTF">2026-10-03T19:42:02.0430000Z</dcterms:modified>
</coreProperties>
</file>