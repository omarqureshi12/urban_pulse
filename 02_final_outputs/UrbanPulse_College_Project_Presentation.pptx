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4c2927b70415d" /><Relationship Type="http://schemas.openxmlformats.org/officeDocument/2006/relationships/extended-properties" Target="/docProps/app.xml" Id="R937c226ca46b4105" /><Relationship Type="http://schemas.openxmlformats.org/officeDocument/2006/relationships/officeDocument" Target="/ppt/presentation.xml" Id="Rec647f19f40f41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3362932054e80"/>
  </p:sldMasterIdLst>
  <p:notesMasterIdLst>
    <p:notesMasterId xmlns:r="http://schemas.openxmlformats.org/officeDocument/2006/relationships" r:id="R73c24d2c7f1d4832"/>
  </p:notesMasterIdLst>
  <p:sldIdLst>
    <p:sldId xmlns:r="http://schemas.openxmlformats.org/officeDocument/2006/relationships" id="256" r:id="R16d740b431314481"/>
    <p:sldId xmlns:r="http://schemas.openxmlformats.org/officeDocument/2006/relationships" id="257" r:id="Ra9574c4e68eb410b"/>
    <p:sldId xmlns:r="http://schemas.openxmlformats.org/officeDocument/2006/relationships" id="258" r:id="R36d7da573a24468b"/>
    <p:sldId xmlns:r="http://schemas.openxmlformats.org/officeDocument/2006/relationships" id="259" r:id="Rbda75f5b14be47a3"/>
    <p:sldId xmlns:r="http://schemas.openxmlformats.org/officeDocument/2006/relationships" id="260" r:id="Red79869d15934ab7"/>
    <p:sldId xmlns:r="http://schemas.openxmlformats.org/officeDocument/2006/relationships" id="261" r:id="R07803ac52ca6498f"/>
    <p:sldId xmlns:r="http://schemas.openxmlformats.org/officeDocument/2006/relationships" id="262" r:id="R7c2c8905f4ae4306"/>
    <p:sldId xmlns:r="http://schemas.openxmlformats.org/officeDocument/2006/relationships" id="263" r:id="Rff833390c0bb4f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0d8f4dfeb64af5" /><Relationship Type="http://schemas.openxmlformats.org/officeDocument/2006/relationships/slideMaster" Target="/ppt/slideMasters/slideMaster1.xml" Id="R9ce3362932054e80" /><Relationship Type="http://schemas.openxmlformats.org/officeDocument/2006/relationships/notesMaster" Target="/ppt/notesMasters/notesMaster1.xml" Id="R73c24d2c7f1d4832" /><Relationship Type="http://schemas.openxmlformats.org/officeDocument/2006/relationships/presProps" Target="/ppt/presProps.xml" Id="Rcbb08638864a4759" /><Relationship Type="http://schemas.openxmlformats.org/officeDocument/2006/relationships/tableStyles" Target="/ppt/tableStyles.xml" Id="Ra0715958226b4782" /><Relationship Type="http://schemas.openxmlformats.org/officeDocument/2006/relationships/slide" Target="/ppt/slides/slide1.xml" Id="R16d740b431314481" /><Relationship Type="http://schemas.openxmlformats.org/officeDocument/2006/relationships/slide" Target="/ppt/slides/slide2.xml" Id="Ra9574c4e68eb410b" /><Relationship Type="http://schemas.openxmlformats.org/officeDocument/2006/relationships/slide" Target="/ppt/slides/slide3.xml" Id="R36d7da573a24468b" /><Relationship Type="http://schemas.openxmlformats.org/officeDocument/2006/relationships/slide" Target="/ppt/slides/slide4.xml" Id="Rbda75f5b14be47a3" /><Relationship Type="http://schemas.openxmlformats.org/officeDocument/2006/relationships/slide" Target="/ppt/slides/slide5.xml" Id="Red79869d15934ab7" /><Relationship Type="http://schemas.openxmlformats.org/officeDocument/2006/relationships/slide" Target="/ppt/slides/slide6.xml" Id="R07803ac52ca6498f" /><Relationship Type="http://schemas.openxmlformats.org/officeDocument/2006/relationships/slide" Target="/ppt/slides/slide7.xml" Id="R7c2c8905f4ae4306" /><Relationship Type="http://schemas.openxmlformats.org/officeDocument/2006/relationships/slide" Target="/ppt/slides/slide8.xml" Id="Rff833390c0bb4f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c390527ce44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1bad2ee2694afd" /><Relationship Type="http://schemas.openxmlformats.org/officeDocument/2006/relationships/notesMaster" Target="/ppt/notesMasters/notesMaster1.xml" Id="Rc9bd1ddc7dd1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d9053d6cf0442a" /><Relationship Type="http://schemas.openxmlformats.org/officeDocument/2006/relationships/notesMaster" Target="/ppt/notesMasters/notesMaster1.xml" Id="R58c3c1ca85b7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24c31b6994340" /><Relationship Type="http://schemas.openxmlformats.org/officeDocument/2006/relationships/notesMaster" Target="/ppt/notesMasters/notesMaster1.xml" Id="Rb8d352cd69dd47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942a8f709748d4" /><Relationship Type="http://schemas.openxmlformats.org/officeDocument/2006/relationships/notesMaster" Target="/ppt/notesMasters/notesMaster1.xml" Id="Rb740537d613d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a89738fa824b35" /><Relationship Type="http://schemas.openxmlformats.org/officeDocument/2006/relationships/notesMaster" Target="/ppt/notesMasters/notesMaster1.xml" Id="R4750e81744a449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b0eaa9876c4b21" /><Relationship Type="http://schemas.openxmlformats.org/officeDocument/2006/relationships/notesMaster" Target="/ppt/notesMasters/notesMaster1.xml" Id="Rc55a9f00586b42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9d0f1b3f9430d" /><Relationship Type="http://schemas.openxmlformats.org/officeDocument/2006/relationships/notesMaster" Target="/ppt/notesMasters/notesMaster1.xml" Id="R71a9a37738ff42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5012c4d2b14bf3" /><Relationship Type="http://schemas.openxmlformats.org/officeDocument/2006/relationships/notesMaster" Target="/ppt/notesMasters/notesMaster1.xml" Id="Rf62125785eea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02_final_outputs/urbanpulse_analysis_report.pdf; 02_final_outputs/urbanpulse_fitness_decision.md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02_final_outputs/urbanpulse_rdbms.sqlite; 02_final_outputs/urbanpulse_data_layers.md; 02_final_outputs/urbanpulse_step9_fitness_decision.md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02_final_outputs/urbanpulse_schema.sql; 02_final_outputs/urbanpulse_data_layers.md; 03_reproducibility_scripts/build_urbanpulse_rdbms.py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02_final_outputs/urbanpulse_stage4_quality_decisions.md; 02_final_outputs/urbanpulse_temperature_month_neighbor_validation.md; 04_project_documentation/PARKING_MEASUREMENT_DEFINITION.md; 04_project_documentation/POWER_OUTAGE_MEASUREMENT_DEFINITION.md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02_final_outputs/urbanpulse_analysis_pivots_charts.xlsx; 02_final_outputs/urbanpulse_step5_compact_descriptive_analysis.md; 02_final_outputs/urbanpulse_rdbms.sqlite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02_final_outputs/urbanpulse_step6_testing_results.md; 02_final_outputs/urbanpulse_step7_model_results.md; 02_final_outputs/urbanpulse_step8_provenance_check.md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04_project_documentation/PHASE3_APPLICATION_TEST_REPORT.md; 05_dashboard/urbanpulse_app.py; 05_dashboard/urbanpulse_data.py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02_final_outputs/urbanpulse_step9_fitness_decision.md; 04_project_documentation/OPEN_ISSUES.md; 04_project_documentation/PHASE3_APPLICATION_TEST_REPORT.md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f6bb13e1d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c0240487c544bc" /><Relationship Type="http://schemas.openxmlformats.org/officeDocument/2006/relationships/slideLayout" Target="/ppt/slideLayouts/slideLayout1.xml" Id="R4503eae1212a48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03eae1212a48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b6a27eec4f1d" /><Relationship Type="http://schemas.openxmlformats.org/officeDocument/2006/relationships/notesSlide" Target="/ppt/notesSlides/notesSlide1.xml" Id="Rbdba2beaad53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c0fdbe5644c62" /><Relationship Type="http://schemas.openxmlformats.org/officeDocument/2006/relationships/notesSlide" Target="/ppt/notesSlides/notesSlide2.xml" Id="Re42bb7804044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8da3a010b49ed" /><Relationship Type="http://schemas.openxmlformats.org/officeDocument/2006/relationships/notesSlide" Target="/ppt/notesSlides/notesSlide3.xml" Id="Rb92a6cd1a9ca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f32ee4de04bd9" /><Relationship Type="http://schemas.openxmlformats.org/officeDocument/2006/relationships/notesSlide" Target="/ppt/notesSlides/notesSlide4.xml" Id="Racd60d54d6ef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26cbbe6514f70" /><Relationship Type="http://schemas.openxmlformats.org/officeDocument/2006/relationships/chart" Target="/ppt/slides/charts/chart1.xml" Id="R48b9de513f5242ba" /><Relationship Type="http://schemas.openxmlformats.org/officeDocument/2006/relationships/notesSlide" Target="/ppt/notesSlides/notesSlide5.xml" Id="R5c4f51c5af1048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b2dfb36b74ab2" /><Relationship Type="http://schemas.openxmlformats.org/officeDocument/2006/relationships/notesSlide" Target="/ppt/notesSlides/notesSlide6.xml" Id="Rd1c808c58a78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d839f55eb4319" /><Relationship Type="http://schemas.openxmlformats.org/officeDocument/2006/relationships/notesSlide" Target="/ppt/notesSlides/notesSlide7.xml" Id="R7dd8cb81bb4b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18d2a2ad34b28" /><Relationship Type="http://schemas.openxmlformats.org/officeDocument/2006/relationships/notesSlide" Target="/ppt/notesSlides/notesSlide8.xml" Id="R370d653191dc47f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Canonical observations by city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Observations</c:v>
          </c:tx>
          <c:spPr>
            <a:solidFill xmlns:a="http://schemas.openxmlformats.org/drawingml/2006/main">
              <a:srgbClr val="2A6F97"/>
            </a:solidFill>
          </c:spPr>
          <c:cat>
            <c:strRef>
              <c:f>'Chart Data'!$A$2:$A$8</c:f>
              <c:strCache>
                <c:ptCount val="7"/>
                <c:pt idx="0">
                  <c:v>Bengaluru</c:v>
                </c:pt>
                <c:pt idx="1">
                  <c:v>Bhopal</c:v>
                </c:pt>
                <c:pt idx="2">
                  <c:v>Delhi</c:v>
                </c:pt>
                <c:pt idx="3">
                  <c:v>Indore</c:v>
                </c:pt>
                <c:pt idx="4">
                  <c:v>Jaipur</c:v>
                </c:pt>
                <c:pt idx="5">
                  <c:v>Nagpur</c:v>
                </c:pt>
                <c:pt idx="6">
                  <c:v>Pune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223</c:v>
                </c:pt>
                <c:pt idx="1">
                  <c:v>204</c:v>
                </c:pt>
                <c:pt idx="2">
                  <c:v>231</c:v>
                </c:pt>
                <c:pt idx="3">
                  <c:v>240</c:v>
                </c:pt>
                <c:pt idx="4">
                  <c:v>231</c:v>
                </c:pt>
                <c:pt idx="5">
                  <c:v>229</c:v>
                </c:pt>
                <c:pt idx="6">
                  <c:v>242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324D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Rows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FD315-8007-45C2-8D86-2210FB85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BD743-A44D-4380-ACFA-12E65873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47750"/>
            <a:ext cx="2952750" cy="2952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42C08-310B-484C-8FA2-49499E4A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668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B3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6AD83-BB43-4BF3-AEBF-2E0CF5B4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rPr>
              <a:t>URBANPULSE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C0704-9921-4F6E-AD78-09FE5028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Smart-city analytics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raw data to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validated 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9E638-7F73-4E49-82C4-8D41E4D5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rPr>
              <a:t>A college project workflow for an intentionally sampled urban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BA9E1-E511-4771-9A34-FA3001E2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DB8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9DB8C9"/>
                </a:solidFill>
                <a:latin typeface="Helvetica Neue"/>
                <a:ea typeface="Helvetica Neue"/>
                <a:cs typeface="Helvetica Neue"/>
              </a:rPr>
              <a:t>2026-01-01 to 2026-09-24  ·  descriptive reporting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AFC0F-9F26-4BEB-B701-823565B5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DB8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9DB8C9"/>
                </a:solidFill>
                <a:latin typeface="Helvetica Neue"/>
                <a:ea typeface="Helvetica Neue"/>
                <a:cs typeface="Helvetica Neue"/>
              </a:rPr>
              <a:t>College 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FF505-E236-4657-8172-3CEA7D4A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presentation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55755-0507-4D27-82A6-7A657F1A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4663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29B27-10DD-4FA0-9C4F-40CE821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project starts with a bounded, intentional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51B0-B70B-4602-B026-3543D9D7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numbers are sufficient for a reproducible college project, but not for official city rankings.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D072B-7C1C-4CCB-A94C-B93AB2DA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 / 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means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 source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Immutable workbook rows retained for audit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Deduplicated analysis grain with raw and cleaned values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eligible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values only; no imputation in the primary analysis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cities · 6 zones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2026-01-01 to 2026-09-24; intentionally sampled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42330-C172-4D54-85DD-D1685DF2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C517-EC4E-48ED-9E0B-8170357A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D2B1E-5276-4815-A62F-0BA9532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This is a traceable analytical sample—not a complete city-zone-time panel.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FE933-FFC8-4A1D-91F4-C5C04278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6AD89-0290-45C6-9870-C44D6676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9518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2111F-7585-47BD-A5BF-69D4123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workflow separates evidence from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92EA4-7115-4FE5-B52E-6A0D562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Every transformation can be traced without overwriting the supplied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BADE4-6F82-45EE-9615-56DA02D8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BFE35-34AE-4070-A617-4261FE34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workbook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Immutable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raw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1F5B8-9A9F-40A0-8A15-8A21903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46698-6F77-4D2E-A361-20D69A5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Raw audit layer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Original +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row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4ADF-426A-434E-9054-0FF9C053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F4F2-8073-4A25-990B-54044335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Canonical layer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Cleaned values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side by 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7BF7-E5F3-41FF-9431-237D308D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B43DA-E553-44AC-A4A6-E26ED38B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Analysis layers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Observed primary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+ sensitivity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9AB83-A942-4DD9-BBCA-4FFAC319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0308D-40DD-4124-9B76-62CC697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RDBMS · report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dashboard ·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48C59-D6CA-43BD-8D67-8C91DD5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Quality flags: missing · imputed · corrected · outlier ·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67D00-E15D-4400-A4C8-E90EA8B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Separate change log  →  quality decisions  →  reproducible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EB4A6-7EFB-471A-BA15-D140364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C5A00-EE12-4CAC-A7AC-F589B2F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91150"/>
            <a:ext cx="792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 statistical analysis uses observed values only; imputation is sensitivity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3F60F-408D-441C-84C4-A97467B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7C3D9-2242-4F6E-B7C4-1D451197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2968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B803D-798E-4F78-BBE5-144AD07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Quality decisions are conservative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EA08D-93F2-4A95-9993-DE82AE14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raw value is preserved even when a cleaned value or exclusion is used downstream.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6C78A-742E-4DCE-B1B8-ED2B8F62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 /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Treatment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Primary-analysis rule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the field as 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only that field from the relevant estimate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imputed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 a separate sensitivity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Never use as default evidence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raw value, cleaned value, reason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only when the error is supported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outlier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valid extremes and flag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silently trim the sample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and analyze separately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from claims that require certainty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7997D-856C-4770-B40E-D275D73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BA6E3-4350-4BE8-B47F-B1FF1B5A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5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55F00"/>
                </a:solidFill>
                <a:latin typeface="Helvetica Neue"/>
                <a:ea typeface="Helvetica Neue"/>
                <a:cs typeface="Helvetica Neue"/>
              </a:rPr>
              <a:t>Temperature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319BA-002E-487B-ABA0-0A32B68D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53025"/>
            <a:ext cx="845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Plausible month + consistent neighbors → retain. Inconsistent neighbors → flag. Implausible month + inconsistent neighbors → probable error, with raw value and change log preserved.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F88BB-A139-4F5C-8402-6C358A54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C099A-E817-426C-8FD0-0F0F674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1111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591E9-60C1-4D32-8600-26F56E73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Descriptively, the sample is broadly balanced across cities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08F19-A7E0-4F64-91F0-B246F239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Counts are useful for describing the supplied sample—not for asserting population representation.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045A6-898E-4D22-9006-B6C57CE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b9de513f5242ba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981950" y="1924050"/>
          <a:ext xmlns:a="http://schemas.openxmlformats.org/drawingml/2006/main" cx="352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762125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city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Pune · 242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Smallest city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Bhopal · 204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zone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Central · 449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Unknown-zone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date span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Jan–Sep 2026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BADB-FFAC-4C48-ADDC-3B7F02A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6E9E-23B7-4C79-86D1-841A953E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2922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Small differences should not be over-interpreted as city rankings.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674A0-F0A5-477B-AD6E-6EB8750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78A96-1901-4C57-925B-150EB03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5032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D9E14-BE07-459B-BA96-8F2404D0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strongest conclusion is disciplined non-detection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A5BBA-887F-4483-846C-75DD6AE6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At the predefined 99% threshold, the project found no robust evidence for the registered hypotheses.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E2888-0CB1-4AC7-A53F-C72BDF9D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Traffic ↔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Incidents ↔ waterlogging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Temperature ↔ outages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 predictability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forecast R² = −1.508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not outperform the simple baseline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Provenance simulation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of 81 diagnostics flagged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authenticity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90920-D6B1-4664-8DB4-22089D8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AD8AE-9D93-4E7E-A462-370F7570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1036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63D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3D40"/>
                </a:solidFill>
                <a:latin typeface="Helvetica Neue"/>
                <a:ea typeface="Helvetica Neue"/>
                <a:cs typeface="Helvetica Neue"/>
              </a:rPr>
              <a:t>Decision implication: report effect sizes and uncertainty, but do not claim causality or production-grade forecasting.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AC8DE-C818-4977-AD57-678BFD5F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362BD-EBB8-40D6-90E7-3FFE3E4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7716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F97D9-1E57-4BB8-B181-F43EB90C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dashboard is now browser-tested and hardened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2C11D-CA88-4974-A188-8401070B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application reads the database in read-only mode and keeps observed and imputed views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DAB88-D3FB-4D0F-A106-26FF5BF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check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result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Six-page navigation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pages loaded without exception or traceback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City filter: Pune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242 rows; chart updated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Zone filter: 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filter: 00:00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267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 filter: 2026-01-01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eligible 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1,491 rows; no imputed records added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Empty-state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Message shown; stale charts removed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BDFBF-CEE4-41DA-946A-6550881A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67363-04CA-4DDC-B614-19EBA882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Hardening re-test: no fresh browser console warnings/errors and no deprecated width API warnings.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09869-37F1-476A-A849-9ADA1D8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47C67-2059-4BEB-A418-42F3E46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049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0E1C5-A6ED-46D5-8437-2D5BE413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041B5-3D00-465F-B14B-F5D5EB40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rPr>
              <a:t>Fit only for descriptive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1EB4C-7A6A-42E5-9668-E6808F5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rPr>
              <a:t>A strong college project when framed around reproducibility, data quality, and honest uncertainty.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2571750"/>
          <a:ext xmlns:a="http://schemas.openxmlformats.org/drawingml/2006/main" cx="1074420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72100"/>
                <a:gridCol w="5372100"/>
              </a:tblGrid>
              <a:tr h="3619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it for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use it for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dashboards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control or safety decisions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Data-engineering demonstration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Causal claims or KPI commitments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Training, QA, and pipeline testing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forecasting or official rankings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518FA-ED15-406B-AE58-F70C4B64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step: obtain authoritative field definitions and source metadata before upgrading the dataset’s fitness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FA500-5774-49C3-8C11-B263E278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final project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14BB-9546-4B98-B2D3-9B7DDEEE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48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2026-10-03T19:39:42.0150000Z</dcterms:created>
  <dcterms:modified xsi:type="dcterms:W3CDTF">2026-10-03T19:39:42.0150000Z</dcterms:modified>
</coreProperties>
</file>